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5"/>
    <p:sldMasterId id="214748371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Caveat"/>
      <p:regular r:id="rId19"/>
      <p:bold r:id="rId20"/>
    </p:embeddedFont>
    <p:embeddedFont>
      <p:font typeface="Merriweather Light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Vidaloka"/>
      <p:regular r:id="rId33"/>
    </p:embeddedFont>
    <p:embeddedFont>
      <p:font typeface="Russo One"/>
      <p:regular r:id="rId34"/>
    </p:embeddedFont>
    <p:embeddedFont>
      <p:font typeface="Mako"/>
      <p:regular r:id="rId35"/>
    </p:embeddedFont>
    <p:embeddedFont>
      <p:font typeface="Crimson Text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2C9ED5-C921-41D3-939A-B769BD46EC8B}">
  <a:tblStyle styleId="{9F2C9ED5-C921-41D3-939A-B769BD46EC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4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33" Type="http://schemas.openxmlformats.org/officeDocument/2006/relationships/font" Target="fonts/Vidaloka-regular.fntdata"/><Relationship Id="rId32" Type="http://schemas.openxmlformats.org/officeDocument/2006/relationships/font" Target="fonts/OpenSansSemiBold-boldItalic.fntdata"/><Relationship Id="rId35" Type="http://schemas.openxmlformats.org/officeDocument/2006/relationships/font" Target="fonts/Mako-regular.fntdata"/><Relationship Id="rId34" Type="http://schemas.openxmlformats.org/officeDocument/2006/relationships/font" Target="fonts/RussoOne-regular.fntdata"/><Relationship Id="rId37" Type="http://schemas.openxmlformats.org/officeDocument/2006/relationships/font" Target="fonts/CrimsonText-bold.fntdata"/><Relationship Id="rId36" Type="http://schemas.openxmlformats.org/officeDocument/2006/relationships/font" Target="fonts/CrimsonText-regular.fntdata"/><Relationship Id="rId39" Type="http://schemas.openxmlformats.org/officeDocument/2006/relationships/font" Target="fonts/CrimsonText-boldItalic.fntdata"/><Relationship Id="rId38" Type="http://schemas.openxmlformats.org/officeDocument/2006/relationships/font" Target="fonts/CrimsonText-italic.fntdata"/><Relationship Id="rId20" Type="http://schemas.openxmlformats.org/officeDocument/2006/relationships/font" Target="fonts/Caveat-bold.fntdata"/><Relationship Id="rId22" Type="http://schemas.openxmlformats.org/officeDocument/2006/relationships/font" Target="fonts/MerriweatherLight-bold.fntdata"/><Relationship Id="rId21" Type="http://schemas.openxmlformats.org/officeDocument/2006/relationships/font" Target="fonts/MerriweatherLight-regular.fntdata"/><Relationship Id="rId24" Type="http://schemas.openxmlformats.org/officeDocument/2006/relationships/font" Target="fonts/MerriweatherLight-boldItalic.fntdata"/><Relationship Id="rId23" Type="http://schemas.openxmlformats.org/officeDocument/2006/relationships/font" Target="fonts/MerriweatherLight-italic.fntdata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29" Type="http://schemas.openxmlformats.org/officeDocument/2006/relationships/font" Target="fonts/OpenSansSemiBold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Caveat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ec2e08354_2_4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cec2e08354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Good morning/afternoon. Today I'll present my data mining project for a retail chain, focusing on customer segmentation using K-Means clustering and product association analysis using market basket techniques. I used the UCI Online Retail II dataset containing over 525,000 transactions.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8b5c7e8ac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8b5c7e8ac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ec2e08354_2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cec2e08354_2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retail chain wants to answer two key questions. First, which customer segments generate the highest value? I approached this with K-Means clustering using RFM features. Second, what products are frequently bought together? I used association rule mining with support, confidence, and lift metrics."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cec2e0835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cec2e0835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ETL, I used full extraction given the manageable data volume. For missing CustomerIDs at 20.5%, I chose to preserve and flag rather than delete - this saved over 100,000 transactions. Date standardization enabled time-series analysis. The UPSERT loading method ensures customer IDs remain consistent across daily updates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cec2e0835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cec2e0835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determine the optimal number of clusters, I used both the elbow method and silhouette scores. The elbow method shows diminishing returns after K=4, and the silhouette score peaks at K=4 with 0.511. This indicates good separation between clusters. Therefore, I selected 4 customer segments."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ec2e0835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cec2e0835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are the 4 customer segments I discovered. The VIP Elite - only 0.3% of customers but spend £116,000 on average with 115 transactions. The High-Value Loyal segment - 13% of customers, spending £6,500. The Occasional Buyers - 63% of customers, representing growth opportunity. And the At-Risk segment - 24% who haven't purchased in 245 days on average, needing win-back campaigns. Each segment has a tailored strategy.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ec2e0835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cec2e0835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market basket analysis, I discovered 308 association rules. The strongest is wooden picture frames - customers who buy one style are 10 times more likely to buy the matching frame. The ceramic trinket boxes show 79% confidence - very reliable for cross-selling. All 308 rules have lift above 1, with 100 rules showing strong complementarity with lift above 2.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5e3d132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5e3d132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cec2e0835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cec2e0835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programmability, networks are becoming automated. Instead of typing commands on each device, operators declare high-level intents—like 'provide low-latency path for video traffic'—and the network configures itself. This is Intent-Based Networking, and it's transforming how large-scale networks are managed.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ec2e0835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cec2e0835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scaling to 500 million rows, indexing reduces O(n) scans to O(log n) lookups, and materialized views pre-compute aggregates. For ethics, I identified three biases: UK-centric data, missing CustomerIDs, and spend-based segmentation. My mitigations include flagging missing data, adding seasonal features, and planning international analysis.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cef2754fc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cef2754fc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conclusion, I delivered 4 customer segments, 308 product association rules, and a robust ETL pipeline. Expected business impact includes 15-25% increase in marketing ROI and 10-15% increase in basket value. Next steps include A/B testing campaigns and implementing a real-time recommendation engine. Thank you - I'm happy to take questions.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4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69" name="Google Shape;69;p16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1" name="Google Shape;71;p16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3" name="Google Shape;73;p16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5" name="Google Shape;75;p16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0" name="Google Shape;80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7"/>
          <p:cNvSpPr txBox="1"/>
          <p:nvPr>
            <p:ph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7"/>
          <p:cNvSpPr txBox="1"/>
          <p:nvPr>
            <p:ph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88" name="Google Shape;88;p17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7"/>
          <p:cNvSpPr txBox="1"/>
          <p:nvPr>
            <p:ph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91" name="Google Shape;91;p17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7"/>
          <p:cNvSpPr txBox="1"/>
          <p:nvPr>
            <p:ph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94" name="Google Shape;94;p17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7"/>
          <p:cNvSpPr txBox="1"/>
          <p:nvPr>
            <p:ph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97" name="Google Shape;97;p17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7"/>
          <p:cNvSpPr txBox="1"/>
          <p:nvPr>
            <p:ph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00" name="Google Shape;100;p17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2" name="Google Shape;102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9" name="Google Shape;109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4" name="Google Shape;114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SECTION_TITLE_AND_DESCRIPTION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1" name="Google Shape;121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0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7" name="Google Shape;127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2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2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34" name="Google Shape;134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8" name="Google Shape;138;p23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39" name="Google Shape;139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" name="Google Shape;147;p24"/>
          <p:cNvSpPr txBox="1"/>
          <p:nvPr>
            <p:ph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148" name="Google Shape;148;p24"/>
          <p:cNvSpPr txBox="1"/>
          <p:nvPr>
            <p:ph idx="1" type="subTitle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9" name="Google Shape;149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4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4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" name="Google Shape;155;p25"/>
          <p:cNvSpPr txBox="1"/>
          <p:nvPr>
            <p:ph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25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25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25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25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3" name="Google Shape;163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2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2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2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9" name="Google Shape;17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28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5" name="Google Shape;185;p29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7" name="Google Shape;187;p29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9" name="Google Shape;189;p29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91" name="Google Shape;191;p29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2" name="Google Shape;192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196" name="Google Shape;196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3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3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3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7" name="Google Shape;207;p32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08" name="Google Shape;208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4" name="Google Shape;214;p33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15" name="Google Shape;215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3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3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21" name="Google Shape;221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34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6" name="Google Shape;226;p35"/>
          <p:cNvSpPr txBox="1"/>
          <p:nvPr>
            <p:ph idx="2" type="title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8" name="Google Shape;228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35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3" name="Google Shape;233;p36"/>
          <p:cNvSpPr txBox="1"/>
          <p:nvPr>
            <p:ph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234" name="Google Shape;234;p36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5" name="Google Shape;235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3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3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3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3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44" name="Google Shape;244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37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9" name="Google Shape;249;p38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50" name="Google Shape;250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8" name="Google Shape;258;p39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9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9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9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9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9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64" name="Google Shape;264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0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40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0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2" name="Google Shape;272;p40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0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74" name="Google Shape;274;p40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5" name="Google Shape;275;p40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0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7" name="Google Shape;277;p40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0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9" name="Google Shape;279;p40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0" name="Google Shape;280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4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4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6" name="Google Shape;286;p41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7" name="Google Shape;287;p41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8" name="Google Shape;288;p41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9" name="Google Shape;289;p41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0" name="Google Shape;290;p41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1" name="Google Shape;291;p41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92" name="Google Shape;292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6" name="Google Shape;296;p42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2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8" name="Google Shape;298;p42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2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42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2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2" name="Google Shape;302;p42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2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4" name="Google Shape;304;p42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42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42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2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8" name="Google Shape;308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2" name="Google Shape;312;p4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4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4" name="Google Shape;314;p4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6" name="Google Shape;316;p4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3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8" name="Google Shape;318;p43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43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0" name="Google Shape;320;p43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3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22" name="Google Shape;322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328" name="Google Shape;328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44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44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334" name="Google Shape;334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4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4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4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4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6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2" name="Google Shape;342;p46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46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4" name="Google Shape;344;p46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6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6" name="Google Shape;346;p46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46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8" name="Google Shape;348;p46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6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50" name="Google Shape;350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7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4" name="Google Shape;354;p47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47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6" name="Google Shape;356;p47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7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8" name="Google Shape;358;p47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7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60" name="Google Shape;360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4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4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48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1" name="Google Shape;371;p48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72" name="Google Shape;372;p48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48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74" name="Google Shape;374;p48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48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76" name="Google Shape;376;p48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8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78" name="Google Shape;378;p48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48"/>
          <p:cNvSpPr txBox="1"/>
          <p:nvPr>
            <p:ph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0" name="Google Shape;380;p48"/>
          <p:cNvSpPr txBox="1"/>
          <p:nvPr>
            <p:ph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1" name="Google Shape;381;p48"/>
          <p:cNvSpPr txBox="1"/>
          <p:nvPr>
            <p:ph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2" name="Google Shape;382;p48"/>
          <p:cNvSpPr txBox="1"/>
          <p:nvPr>
            <p:ph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5" name="Google Shape;385;p49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9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7" name="Google Shape;387;p49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49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9" name="Google Shape;389;p49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49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1" name="Google Shape;391;p49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49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93" name="Google Shape;39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Google Shape;396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5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5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5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5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50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03" name="Google Shape;403;p50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0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05" name="Google Shape;405;p50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50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07" name="Google Shape;407;p50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08" name="Google Shape;408;p50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1"/>
          <p:cNvSpPr txBox="1"/>
          <p:nvPr>
            <p:ph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11" name="Google Shape;411;p51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51"/>
          <p:cNvSpPr txBox="1"/>
          <p:nvPr>
            <p:ph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13" name="Google Shape;413;p51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1"/>
          <p:cNvSpPr txBox="1"/>
          <p:nvPr>
            <p:ph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15" name="Google Shape;415;p51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16" name="Google Shape;416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2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0" name="Google Shape;420;p52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52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2" name="Google Shape;422;p52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4" name="Google Shape;424;p52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25" name="Google Shape;425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5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5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5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52"/>
          <p:cNvSpPr txBox="1"/>
          <p:nvPr>
            <p:ph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31" name="Google Shape;431;p52"/>
          <p:cNvSpPr txBox="1"/>
          <p:nvPr>
            <p:ph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32" name="Google Shape;432;p52"/>
          <p:cNvSpPr txBox="1"/>
          <p:nvPr>
            <p:ph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3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5" name="Google Shape;435;p53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6" name="Google Shape;436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40" name="Google Shape;440;p54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41" name="Google Shape;441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5"/>
          <p:cNvSpPr txBox="1"/>
          <p:nvPr>
            <p:ph idx="1" type="subTitle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46" name="Google Shape;446;p5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5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5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5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5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5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5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5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56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57" name="Google Shape;457;p56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8" name="Google Shape;458;p56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7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61" name="Google Shape;461;p57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7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63" name="Google Shape;463;p57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57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65" name="Google Shape;465;p5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5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8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69" name="Google Shape;469;p58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70" name="Google Shape;470;p58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58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72" name="Google Shape;472;p58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58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74" name="Google Shape;474;p58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75" name="Google Shape;475;p5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5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5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5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9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81" name="Google Shape;481;p59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5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Slidesgo</a:t>
            </a: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Freepik</a:t>
            </a:r>
            <a:endParaRPr b="1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3" name="Google Shape;483;p5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5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5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5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89" name="Google Shape;489;p60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90" name="Google Shape;490;p60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91" name="Google Shape;491;p6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6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5" name="Google Shape;495;p61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96" name="Google Shape;496;p6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6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61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1" name="Google Shape;501;p6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6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4" name="Google Shape;504;p6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6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64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64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9" name="Google Shape;509;p6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6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6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" name="Google Shape;513;p6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6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6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6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6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6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b="0" i="0" sz="3000" u="none" cap="none" strike="noStrik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7"/>
          <p:cNvSpPr txBox="1"/>
          <p:nvPr>
            <p:ph type="ctrTitle"/>
          </p:nvPr>
        </p:nvSpPr>
        <p:spPr>
          <a:xfrm>
            <a:off x="442200" y="1484875"/>
            <a:ext cx="825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/>
              <a:t>CUSTOMER INTELLIGENCE FOR RETAIL CHAIN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4000"/>
          </a:p>
        </p:txBody>
      </p:sp>
      <p:sp>
        <p:nvSpPr>
          <p:cNvPr id="524" name="Google Shape;524;p67"/>
          <p:cNvSpPr txBox="1"/>
          <p:nvPr>
            <p:ph idx="1" type="subTitle"/>
          </p:nvPr>
        </p:nvSpPr>
        <p:spPr>
          <a:xfrm>
            <a:off x="971225" y="3193800"/>
            <a:ext cx="7064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Segmentation &amp; Market Basket Analysis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25" name="Google Shape;525;p67" title="Screenshot 2025-11-21 07010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82050"/>
            <a:ext cx="9144001" cy="3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7" title="Academic-City.png"/>
          <p:cNvPicPr preferRelativeResize="0"/>
          <p:nvPr/>
        </p:nvPicPr>
        <p:blipFill rotWithShape="1">
          <a:blip r:embed="rId4">
            <a:alphaModFix/>
          </a:blip>
          <a:srcRect b="-44802" l="-18333" r="-1961" t="0"/>
          <a:stretch/>
        </p:blipFill>
        <p:spPr>
          <a:xfrm>
            <a:off x="6085975" y="355125"/>
            <a:ext cx="2977849" cy="117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67"/>
          <p:cNvSpPr txBox="1"/>
          <p:nvPr/>
        </p:nvSpPr>
        <p:spPr>
          <a:xfrm>
            <a:off x="8342575" y="4202700"/>
            <a:ext cx="961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BY: AMA BADUWA BAIDOO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67"/>
          <p:cNvSpPr txBox="1"/>
          <p:nvPr>
            <p:ph idx="1" type="subTitle"/>
          </p:nvPr>
        </p:nvSpPr>
        <p:spPr>
          <a:xfrm>
            <a:off x="0" y="4202700"/>
            <a:ext cx="3550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CS4237: DATA MINING &amp; WAREHOUSING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9" name="Google Shape;529;p67"/>
          <p:cNvSpPr txBox="1"/>
          <p:nvPr>
            <p:ph idx="1" type="subTitle"/>
          </p:nvPr>
        </p:nvSpPr>
        <p:spPr>
          <a:xfrm>
            <a:off x="2544300" y="3649138"/>
            <a:ext cx="40554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Dataset: UCI Online Retail II Dataset: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8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</a:t>
            </a:r>
            <a:endParaRPr/>
          </a:p>
        </p:txBody>
      </p:sp>
      <p:pic>
        <p:nvPicPr>
          <p:cNvPr id="535" name="Google Shape;535;p68" title="_- visual selection (15).png"/>
          <p:cNvPicPr preferRelativeResize="0"/>
          <p:nvPr/>
        </p:nvPicPr>
        <p:blipFill rotWithShape="1">
          <a:blip r:embed="rId3">
            <a:alphaModFix/>
          </a:blip>
          <a:srcRect b="6946" l="3025" r="2162" t="16805"/>
          <a:stretch/>
        </p:blipFill>
        <p:spPr>
          <a:xfrm>
            <a:off x="559637" y="922700"/>
            <a:ext cx="8024725" cy="36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9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BUSINESS PROBLEM &amp; OBJECTIVES</a:t>
            </a:r>
            <a:endParaRPr/>
          </a:p>
        </p:txBody>
      </p:sp>
      <p:sp>
        <p:nvSpPr>
          <p:cNvPr id="541" name="Google Shape;541;p69"/>
          <p:cNvSpPr txBox="1"/>
          <p:nvPr/>
        </p:nvSpPr>
        <p:spPr>
          <a:xfrm>
            <a:off x="472800" y="958750"/>
            <a:ext cx="46509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BUSINESS CONTEXT</a:t>
            </a:r>
            <a:endParaRPr b="1" sz="1300" u="sng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Fast-moving retail chain in UK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Wants to harness data to understand customers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Optimize inventory and drive sales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42" name="Google Shape;542;p69"/>
          <p:cNvGraphicFramePr/>
          <p:nvPr/>
        </p:nvGraphicFramePr>
        <p:xfrm>
          <a:off x="472800" y="28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{9F2C9ED5-C921-41D3-939A-B769BD46EC8B}</a:tableStyleId>
              </a:tblPr>
              <a:tblGrid>
                <a:gridCol w="4002550"/>
                <a:gridCol w="4002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QUESTION 1: Customer Segmentation</a:t>
                      </a:r>
                      <a:endParaRPr b="1" i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QUESTION 2: Product Association</a:t>
                      </a:r>
                      <a:endParaRPr b="1" i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"Which customer segments generate highest value and what behaviors define them?"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"What product combinations are frequently purchased together?"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Approach: K-Means ClusteringFeatures: RFM (Recency, Frequency, Monetary) 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Approach: Association Rule MiningMetrics: Support, Confidence,Lift 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43" name="Google Shape;543;p69"/>
          <p:cNvSpPr txBox="1"/>
          <p:nvPr>
            <p:ph idx="1" type="subTitle"/>
          </p:nvPr>
        </p:nvSpPr>
        <p:spPr>
          <a:xfrm>
            <a:off x="472800" y="2459275"/>
            <a:ext cx="28524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dk1"/>
                </a:solidFill>
              </a:rPr>
              <a:t>TWO BUSINESS QUESTIONS</a:t>
            </a:r>
            <a:endParaRPr b="1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0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ETL PIPELINE SUMMARY </a:t>
            </a:r>
            <a:endParaRPr i="1" sz="2400"/>
          </a:p>
        </p:txBody>
      </p:sp>
      <p:graphicFrame>
        <p:nvGraphicFramePr>
          <p:cNvPr id="549" name="Google Shape;549;p70"/>
          <p:cNvGraphicFramePr/>
          <p:nvPr/>
        </p:nvGraphicFramePr>
        <p:xfrm>
          <a:off x="471038" y="141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{9F2C9ED5-C921-41D3-939A-B769BD46EC8B}</a:tableStyleId>
              </a:tblPr>
              <a:tblGrid>
                <a:gridCol w="2141325"/>
              </a:tblGrid>
              <a:tr h="8198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525,461 rows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~5 minutes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Daily updates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0" name="Google Shape;550;p70"/>
          <p:cNvGraphicFramePr/>
          <p:nvPr/>
        </p:nvGraphicFramePr>
        <p:xfrm>
          <a:off x="4915638" y="380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{9F2C9ED5-C921-41D3-939A-B769BD46EC8B}</a:tableStyleId>
              </a:tblPr>
              <a:tblGrid>
                <a:gridCol w="3607625"/>
              </a:tblGrid>
              <a:tr h="83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UPSERT METHOD UPDATE + INSERT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Preserves IDs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Idempotent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1" name="Google Shape;551;p70"/>
          <p:cNvGraphicFramePr/>
          <p:nvPr/>
        </p:nvGraphicFramePr>
        <p:xfrm>
          <a:off x="4572000" y="128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{9F2C9ED5-C921-41D3-939A-B769BD46EC8B}</a:tableStyleId>
              </a:tblPr>
              <a:tblGrid>
                <a:gridCol w="3951275"/>
              </a:tblGrid>
              <a:tr h="1541725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Missing Values: 20.54% CustomerID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→ Preserved with flagging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Date Standardization: YYYY-MM-DD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De-duplication: 6,865 exact dupes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Removed: 3,672 invalid prices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Removed: 10,098 cancelled invoices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2" name="Google Shape;552;p70"/>
          <p:cNvSpPr txBox="1"/>
          <p:nvPr/>
        </p:nvSpPr>
        <p:spPr>
          <a:xfrm>
            <a:off x="6134013" y="3455463"/>
            <a:ext cx="11709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LOADING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70"/>
          <p:cNvSpPr txBox="1"/>
          <p:nvPr/>
        </p:nvSpPr>
        <p:spPr>
          <a:xfrm>
            <a:off x="5694263" y="960338"/>
            <a:ext cx="2371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TRANSFORMATION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70"/>
          <p:cNvSpPr txBox="1"/>
          <p:nvPr/>
        </p:nvSpPr>
        <p:spPr>
          <a:xfrm>
            <a:off x="557026" y="1053450"/>
            <a:ext cx="21414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EXTRACTION (FULL)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-180175" y="2754975"/>
            <a:ext cx="3264900" cy="2039400"/>
          </a:xfrm>
          <a:prstGeom prst="cloudCallout">
            <a:avLst>
              <a:gd fmla="val 80172" name="adj1"/>
              <a:gd fmla="val -42108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70"/>
          <p:cNvSpPr txBox="1"/>
          <p:nvPr/>
        </p:nvSpPr>
        <p:spPr>
          <a:xfrm>
            <a:off x="111225" y="3105975"/>
            <a:ext cx="25872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DATASET 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★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498,359 rows (94.8% preserved)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★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4,312 verified customers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★"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£22,084,220.58 total sales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006725" y="1611475"/>
            <a:ext cx="1170900" cy="38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EDF2"/>
          </a:solidFill>
          <a:ln cap="flat" cmpd="sng" w="19050">
            <a:solidFill>
              <a:srgbClr val="85200C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6358638" y="2997363"/>
            <a:ext cx="378000" cy="458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9EDF2"/>
          </a:solidFill>
          <a:ln cap="flat" cmpd="sng" w="19050">
            <a:solidFill>
              <a:srgbClr val="85200C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1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K-MEANS: OPTIMAL K SELECTION</a:t>
            </a:r>
            <a:endParaRPr i="1" sz="2400"/>
          </a:p>
        </p:txBody>
      </p:sp>
      <p:pic>
        <p:nvPicPr>
          <p:cNvPr id="564" name="Google Shape;56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88" y="911525"/>
            <a:ext cx="8391025" cy="30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1"/>
          <p:cNvSpPr txBox="1"/>
          <p:nvPr/>
        </p:nvSpPr>
        <p:spPr>
          <a:xfrm>
            <a:off x="68725" y="4055225"/>
            <a:ext cx="4734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OPTIMAL K = 4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Elbow point at K=4 (diminishing returns beyond)        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71"/>
          <p:cNvSpPr txBox="1"/>
          <p:nvPr/>
        </p:nvSpPr>
        <p:spPr>
          <a:xfrm>
            <a:off x="5043525" y="4372925"/>
            <a:ext cx="3894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Highest silhouette score at K=4 (0.511)  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71"/>
          <p:cNvSpPr/>
          <p:nvPr/>
        </p:nvSpPr>
        <p:spPr>
          <a:xfrm>
            <a:off x="68725" y="0"/>
            <a:ext cx="919500" cy="629700"/>
          </a:xfrm>
          <a:prstGeom prst="cloudCallout">
            <a:avLst>
              <a:gd fmla="val 67450" name="adj1"/>
              <a:gd fmla="val 32857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71"/>
          <p:cNvSpPr txBox="1"/>
          <p:nvPr/>
        </p:nvSpPr>
        <p:spPr>
          <a:xfrm>
            <a:off x="140600" y="441550"/>
            <a:ext cx="65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71"/>
          <p:cNvSpPr txBox="1"/>
          <p:nvPr/>
        </p:nvSpPr>
        <p:spPr>
          <a:xfrm>
            <a:off x="224875" y="-105150"/>
            <a:ext cx="607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F9FAFB"/>
                </a:solidFill>
                <a:latin typeface="Caveat"/>
                <a:ea typeface="Caveat"/>
                <a:cs typeface="Caveat"/>
                <a:sym typeface="Caveat"/>
              </a:rPr>
              <a:t>A</a:t>
            </a:r>
            <a:endParaRPr b="1" sz="3900">
              <a:solidFill>
                <a:srgbClr val="F9FAF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2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4 CUSTOMER SEGMENTS IDENTIFIED</a:t>
            </a:r>
            <a:endParaRPr i="1" sz="2400"/>
          </a:p>
        </p:txBody>
      </p:sp>
      <p:pic>
        <p:nvPicPr>
          <p:cNvPr id="575" name="Google Shape;575;p72" title="2.9 Proposed System Architecture - visual selection (9).png"/>
          <p:cNvPicPr preferRelativeResize="0"/>
          <p:nvPr/>
        </p:nvPicPr>
        <p:blipFill rotWithShape="1">
          <a:blip r:embed="rId3">
            <a:alphaModFix/>
          </a:blip>
          <a:srcRect b="19607" l="1672" r="2211" t="19970"/>
          <a:stretch/>
        </p:blipFill>
        <p:spPr>
          <a:xfrm>
            <a:off x="669450" y="1017750"/>
            <a:ext cx="7805098" cy="224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72"/>
          <p:cNvSpPr/>
          <p:nvPr/>
        </p:nvSpPr>
        <p:spPr>
          <a:xfrm>
            <a:off x="-91650" y="3568500"/>
            <a:ext cx="2229000" cy="1245600"/>
          </a:xfrm>
          <a:prstGeom prst="cloudCallout">
            <a:avLst>
              <a:gd fmla="val 38357" name="adj1"/>
              <a:gd fmla="val -62297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72"/>
          <p:cNvSpPr txBox="1"/>
          <p:nvPr/>
        </p:nvSpPr>
        <p:spPr>
          <a:xfrm>
            <a:off x="47550" y="3717825"/>
            <a:ext cx="19506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£116,368 AVG SPEND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3 DAYS RECENCY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★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ELITE </a:t>
            </a: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CONCIERGE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72"/>
          <p:cNvSpPr/>
          <p:nvPr/>
        </p:nvSpPr>
        <p:spPr>
          <a:xfrm>
            <a:off x="2250175" y="3528750"/>
            <a:ext cx="2229000" cy="1245600"/>
          </a:xfrm>
          <a:prstGeom prst="cloudCallout">
            <a:avLst>
              <a:gd fmla="val 29579" name="adj1"/>
              <a:gd fmla="val -66091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72"/>
          <p:cNvSpPr/>
          <p:nvPr/>
        </p:nvSpPr>
        <p:spPr>
          <a:xfrm>
            <a:off x="4572000" y="3528750"/>
            <a:ext cx="2229000" cy="1245600"/>
          </a:xfrm>
          <a:prstGeom prst="cloudCallout">
            <a:avLst>
              <a:gd fmla="val -11373" name="adj1"/>
              <a:gd fmla="val -71120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72"/>
          <p:cNvSpPr/>
          <p:nvPr/>
        </p:nvSpPr>
        <p:spPr>
          <a:xfrm>
            <a:off x="6893825" y="3528750"/>
            <a:ext cx="2229000" cy="1245600"/>
          </a:xfrm>
          <a:prstGeom prst="cloudCallout">
            <a:avLst>
              <a:gd fmla="val -24058" name="adj1"/>
              <a:gd fmla="val -70689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p72"/>
          <p:cNvSpPr txBox="1"/>
          <p:nvPr/>
        </p:nvSpPr>
        <p:spPr>
          <a:xfrm>
            <a:off x="2389375" y="3713250"/>
            <a:ext cx="19506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£6,502 </a:t>
            </a: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AVG SPEND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24 DAYS RECENCY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★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VIP RETENTION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72"/>
          <p:cNvSpPr txBox="1"/>
          <p:nvPr/>
        </p:nvSpPr>
        <p:spPr>
          <a:xfrm>
            <a:off x="4711200" y="3625075"/>
            <a:ext cx="19506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£1,166 AVG SPEND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46 DAYS RECENCY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★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GROWTH OPTIMIZATION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72"/>
          <p:cNvSpPr txBox="1"/>
          <p:nvPr/>
        </p:nvSpPr>
        <p:spPr>
          <a:xfrm>
            <a:off x="7033025" y="3625075"/>
            <a:ext cx="19506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£573 AVG SPEND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245 DAYS RECENCY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★"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WIN-BACK CAMPAIGN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72"/>
          <p:cNvSpPr/>
          <p:nvPr/>
        </p:nvSpPr>
        <p:spPr>
          <a:xfrm>
            <a:off x="68725" y="0"/>
            <a:ext cx="919500" cy="629700"/>
          </a:xfrm>
          <a:prstGeom prst="cloudCallout">
            <a:avLst>
              <a:gd fmla="val 67450" name="adj1"/>
              <a:gd fmla="val 32857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72"/>
          <p:cNvSpPr txBox="1"/>
          <p:nvPr/>
        </p:nvSpPr>
        <p:spPr>
          <a:xfrm>
            <a:off x="224875" y="-105150"/>
            <a:ext cx="607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F9FAFB"/>
                </a:solidFill>
                <a:latin typeface="Caveat"/>
                <a:ea typeface="Caveat"/>
                <a:cs typeface="Caveat"/>
                <a:sym typeface="Caveat"/>
              </a:rPr>
              <a:t>A</a:t>
            </a:r>
            <a:endParaRPr b="1" sz="3900">
              <a:solidFill>
                <a:srgbClr val="F9FAF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3"/>
          <p:cNvSpPr txBox="1"/>
          <p:nvPr>
            <p:ph type="title"/>
          </p:nvPr>
        </p:nvSpPr>
        <p:spPr>
          <a:xfrm>
            <a:off x="0" y="958875"/>
            <a:ext cx="33681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/>
              <a:t>TOP PRODUCT BUNDLES BY LIFT</a:t>
            </a:r>
            <a:endParaRPr b="1" sz="13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91" name="Google Shape;591;p73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MARKET BASKET ANALYSIS: TOP RULES</a:t>
            </a:r>
            <a:endParaRPr i="1" sz="2400"/>
          </a:p>
        </p:txBody>
      </p:sp>
      <p:pic>
        <p:nvPicPr>
          <p:cNvPr id="592" name="Google Shape;592;p73" title="2.9 Proposed System Architecture - visual selection (11).png"/>
          <p:cNvPicPr preferRelativeResize="0"/>
          <p:nvPr/>
        </p:nvPicPr>
        <p:blipFill rotWithShape="1">
          <a:blip r:embed="rId3">
            <a:alphaModFix/>
          </a:blip>
          <a:srcRect b="5491" l="6252" r="5190" t="21394"/>
          <a:stretch/>
        </p:blipFill>
        <p:spPr>
          <a:xfrm>
            <a:off x="6506200" y="1696675"/>
            <a:ext cx="2686801" cy="31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73" title="2.9 Proposed System Architecture - visual selection (12).png"/>
          <p:cNvPicPr preferRelativeResize="0"/>
          <p:nvPr/>
        </p:nvPicPr>
        <p:blipFill rotWithShape="1">
          <a:blip r:embed="rId4">
            <a:alphaModFix/>
          </a:blip>
          <a:srcRect b="3165" l="2627" r="2189" t="22535"/>
          <a:stretch/>
        </p:blipFill>
        <p:spPr>
          <a:xfrm>
            <a:off x="137475" y="1329300"/>
            <a:ext cx="5891099" cy="345347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3"/>
          <p:cNvSpPr/>
          <p:nvPr/>
        </p:nvSpPr>
        <p:spPr>
          <a:xfrm>
            <a:off x="68725" y="0"/>
            <a:ext cx="919500" cy="629700"/>
          </a:xfrm>
          <a:prstGeom prst="cloudCallout">
            <a:avLst>
              <a:gd fmla="val 67450" name="adj1"/>
              <a:gd fmla="val 32857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73"/>
          <p:cNvSpPr txBox="1"/>
          <p:nvPr/>
        </p:nvSpPr>
        <p:spPr>
          <a:xfrm>
            <a:off x="224875" y="-105150"/>
            <a:ext cx="607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F9FAFB"/>
                </a:solidFill>
                <a:latin typeface="Caveat"/>
                <a:ea typeface="Caveat"/>
                <a:cs typeface="Caveat"/>
                <a:sym typeface="Caveat"/>
              </a:rPr>
              <a:t>B</a:t>
            </a:r>
            <a:endParaRPr b="1" sz="3900">
              <a:solidFill>
                <a:srgbClr val="F9FAF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4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STRATEGIC SALES ENHANCEMENT</a:t>
            </a:r>
            <a:endParaRPr i="1" sz="2400"/>
          </a:p>
        </p:txBody>
      </p:sp>
      <p:pic>
        <p:nvPicPr>
          <p:cNvPr id="601" name="Google Shape;601;p74" title="_- visual selection (16).png"/>
          <p:cNvPicPr preferRelativeResize="0"/>
          <p:nvPr/>
        </p:nvPicPr>
        <p:blipFill rotWithShape="1">
          <a:blip r:embed="rId3">
            <a:alphaModFix/>
          </a:blip>
          <a:srcRect b="7810" l="0" r="0" t="17669"/>
          <a:stretch/>
        </p:blipFill>
        <p:spPr>
          <a:xfrm>
            <a:off x="1093763" y="857375"/>
            <a:ext cx="6956475" cy="379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74"/>
          <p:cNvSpPr/>
          <p:nvPr/>
        </p:nvSpPr>
        <p:spPr>
          <a:xfrm>
            <a:off x="68725" y="0"/>
            <a:ext cx="919500" cy="629700"/>
          </a:xfrm>
          <a:prstGeom prst="cloudCallout">
            <a:avLst>
              <a:gd fmla="val 67450" name="adj1"/>
              <a:gd fmla="val 32857" name="adj2"/>
            </a:avLst>
          </a:prstGeom>
          <a:solidFill>
            <a:srgbClr val="C27BA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74"/>
          <p:cNvSpPr txBox="1"/>
          <p:nvPr/>
        </p:nvSpPr>
        <p:spPr>
          <a:xfrm>
            <a:off x="224875" y="-105150"/>
            <a:ext cx="607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F9FAFB"/>
                </a:solidFill>
                <a:latin typeface="Caveat"/>
                <a:ea typeface="Caveat"/>
                <a:cs typeface="Caveat"/>
                <a:sym typeface="Caveat"/>
              </a:rPr>
              <a:t>B</a:t>
            </a:r>
            <a:endParaRPr b="1" sz="3900">
              <a:solidFill>
                <a:srgbClr val="F9FAF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5"/>
          <p:cNvSpPr txBox="1"/>
          <p:nvPr>
            <p:ph type="title"/>
          </p:nvPr>
        </p:nvSpPr>
        <p:spPr>
          <a:xfrm>
            <a:off x="2257950" y="1480525"/>
            <a:ext cx="46281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PROBLEM: 3 seconds → 20 minutes at 500M rows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09" name="Google Shape;609;p75"/>
          <p:cNvSpPr txBox="1"/>
          <p:nvPr/>
        </p:nvSpPr>
        <p:spPr>
          <a:xfrm>
            <a:off x="243700" y="2081225"/>
            <a:ext cx="42156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SOLUTION 1: INDEXING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B-tree indexes on CustomerID, InvoiceDate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O(n) scans → O(log n) lookups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75"/>
          <p:cNvSpPr txBox="1"/>
          <p:nvPr>
            <p:ph idx="4294967295" type="title"/>
          </p:nvPr>
        </p:nvSpPr>
        <p:spPr>
          <a:xfrm>
            <a:off x="1205950" y="422150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PERFORMANCE </a:t>
            </a:r>
            <a:r>
              <a:rPr lang="en"/>
              <a:t>OPTIMIZATION </a:t>
            </a:r>
            <a:endParaRPr i="1" sz="2400"/>
          </a:p>
        </p:txBody>
      </p:sp>
      <p:sp>
        <p:nvSpPr>
          <p:cNvPr id="611" name="Google Shape;611;p75"/>
          <p:cNvSpPr txBox="1"/>
          <p:nvPr/>
        </p:nvSpPr>
        <p:spPr>
          <a:xfrm>
            <a:off x="4657550" y="2081225"/>
            <a:ext cx="42156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SOLUTION 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2: MATERIALIZED VIEWS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Pre-computed daily/monthly aggregates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★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500M rows → 500K rows for common queries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75"/>
          <p:cNvSpPr txBox="1"/>
          <p:nvPr>
            <p:ph type="title"/>
          </p:nvPr>
        </p:nvSpPr>
        <p:spPr>
          <a:xfrm>
            <a:off x="2448850" y="3544525"/>
            <a:ext cx="46281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EXPECTED: 20 minutes → 3-5 seconds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ETHICS &amp; BIAS MITIGATION </a:t>
            </a:r>
            <a:endParaRPr i="1" sz="2400"/>
          </a:p>
        </p:txBody>
      </p:sp>
      <p:graphicFrame>
        <p:nvGraphicFramePr>
          <p:cNvPr id="618" name="Google Shape;618;p76"/>
          <p:cNvGraphicFramePr/>
          <p:nvPr/>
        </p:nvGraphicFramePr>
        <p:xfrm>
          <a:off x="6197400" y="16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{9F2C9ED5-C921-41D3-939A-B769BD46EC8B}</a:tableStyleId>
              </a:tblPr>
              <a:tblGrid>
                <a:gridCol w="1404925"/>
                <a:gridCol w="1404925"/>
              </a:tblGrid>
              <a:tr h="12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IDENTIFIED BIAS</a:t>
                      </a:r>
                      <a:endParaRPr b="1"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MITIGATION</a:t>
                      </a:r>
                      <a:endParaRPr b="1"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UK-centric (92.4% data)</a:t>
                      </a:r>
                      <a:endParaRPr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International segment analysis</a:t>
                      </a:r>
                      <a:endParaRPr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20.5% missing CustomerID</a:t>
                      </a:r>
                      <a:endParaRPr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Flagged, not deleted</a:t>
                      </a:r>
                      <a:endParaRPr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Spend-based segmentation</a:t>
                      </a:r>
                      <a:endParaRPr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Add seasonal &amp; category features</a:t>
                      </a:r>
                      <a:endParaRPr sz="1300"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9" name="Google Shape;619;p76" title="_- visual selection (3).png"/>
          <p:cNvPicPr preferRelativeResize="0"/>
          <p:nvPr/>
        </p:nvPicPr>
        <p:blipFill rotWithShape="1">
          <a:blip r:embed="rId3">
            <a:alphaModFix/>
          </a:blip>
          <a:srcRect b="9017" l="3547" r="2864" t="7878"/>
          <a:stretch/>
        </p:blipFill>
        <p:spPr>
          <a:xfrm>
            <a:off x="0" y="979950"/>
            <a:ext cx="6197400" cy="380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7"/>
          <p:cNvSpPr txBox="1"/>
          <p:nvPr>
            <p:ph idx="4294967295" type="title"/>
          </p:nvPr>
        </p:nvSpPr>
        <p:spPr>
          <a:xfrm>
            <a:off x="1205950" y="284675"/>
            <a:ext cx="71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BUSINESS IMPACT &amp; CONCLUSION</a:t>
            </a:r>
            <a:endParaRPr/>
          </a:p>
        </p:txBody>
      </p:sp>
      <p:graphicFrame>
        <p:nvGraphicFramePr>
          <p:cNvPr id="625" name="Google Shape;625;p77"/>
          <p:cNvGraphicFramePr/>
          <p:nvPr/>
        </p:nvGraphicFramePr>
        <p:xfrm>
          <a:off x="3770100" y="112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{9F2C9ED5-C921-41D3-939A-B769BD46EC8B}</a:tableStyleId>
              </a:tblPr>
              <a:tblGrid>
                <a:gridCol w="4718800"/>
              </a:tblGrid>
              <a:tr h="1117875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customer segments identified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308 product association rules discovered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ETL pipeline with 94.8% data preservation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Scalable architecture for 500M+ rows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6" name="Google Shape;626;p77"/>
          <p:cNvGraphicFramePr/>
          <p:nvPr/>
        </p:nvGraphicFramePr>
        <p:xfrm>
          <a:off x="3086300" y="3209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{9F2C9ED5-C921-41D3-939A-B769BD46EC8B}</a:tableStyleId>
              </a:tblPr>
              <a:tblGrid>
                <a:gridCol w="5807050"/>
              </a:tblGrid>
              <a:tr h="1026225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📈 </a:t>
                      </a:r>
                      <a:r>
                        <a:rPr i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Marketing ROI: 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  +15-25%  (targeted segment campaigns)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🛒 </a:t>
                      </a:r>
                      <a:r>
                        <a:rPr i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Basket value: 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   +10-15%  (cross-selling recommendations)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1150" lvl="0" marL="4572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Montserrat"/>
                        <a:buChar char="★"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💰 </a:t>
                      </a:r>
                      <a:r>
                        <a:rPr i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sales: 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    £22M     (498,359 clean transactions) 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5200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7" name="Google Shape;627;p77"/>
          <p:cNvSpPr txBox="1"/>
          <p:nvPr/>
        </p:nvSpPr>
        <p:spPr>
          <a:xfrm>
            <a:off x="0" y="3493213"/>
            <a:ext cx="26130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EXPECTED BUSINESS VALUE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77"/>
          <p:cNvSpPr txBox="1"/>
          <p:nvPr/>
        </p:nvSpPr>
        <p:spPr>
          <a:xfrm>
            <a:off x="265438" y="1467863"/>
            <a:ext cx="2371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KEY DELIVERABLES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77"/>
          <p:cNvSpPr/>
          <p:nvPr/>
        </p:nvSpPr>
        <p:spPr>
          <a:xfrm>
            <a:off x="2353750" y="1467875"/>
            <a:ext cx="1170900" cy="38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EDF2"/>
          </a:solidFill>
          <a:ln cap="flat" cmpd="sng" w="19050">
            <a:solidFill>
              <a:srgbClr val="85200C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77"/>
          <p:cNvSpPr/>
          <p:nvPr/>
        </p:nvSpPr>
        <p:spPr>
          <a:xfrm rot="-5400000">
            <a:off x="2596513" y="3453163"/>
            <a:ext cx="378000" cy="458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9EDF2"/>
          </a:solidFill>
          <a:ln cap="flat" cmpd="sng" w="19050">
            <a:solidFill>
              <a:srgbClr val="85200C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